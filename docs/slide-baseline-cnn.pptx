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SmallCNN — val accuracy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96.33</c:v>
                </c:pt>
                <c:pt idx="1">
                  <c:v>97.3</c:v>
                </c:pt>
                <c:pt idx="2">
                  <c:v>97.59</c:v>
                </c:pt>
                <c:pt idx="3">
                  <c:v>97.91</c:v>
                </c:pt>
                <c:pt idx="4">
                  <c:v>98.07</c:v>
                </c:pt>
                <c:pt idx="5">
                  <c:v>98.2</c:v>
                </c:pt>
                <c:pt idx="6">
                  <c:v>98.31</c:v>
                </c:pt>
                <c:pt idx="7">
                  <c:v>98.42</c:v>
                </c:pt>
                <c:pt idx="8">
                  <c:v>98.55</c:v>
                </c:pt>
                <c:pt idx="9">
                  <c:v>98.33</c:v>
                </c:pt>
                <c:pt idx="10">
                  <c:v>98.59</c:v>
                </c:pt>
                <c:pt idx="11">
                  <c:v>98.57</c:v>
                </c:pt>
                <c:pt idx="12">
                  <c:v>98.38</c:v>
                </c:pt>
                <c:pt idx="13">
                  <c:v>98.33</c:v>
                </c:pt>
                <c:pt idx="14">
                  <c:v>98.41</c:v>
                </c:pt>
                <c:pt idx="15">
                  <c:v>98.52</c:v>
                </c:pt>
                <c:pt idx="16">
                  <c:v>98.09</c:v>
                </c:pt>
                <c:pt idx="17">
                  <c:v>98.61</c:v>
                </c:pt>
                <c:pt idx="18">
                  <c:v>98.72</c:v>
                </c:pt>
                <c:pt idx="19">
                  <c:v>98.53</c:v>
                </c:pt>
                <c:pt idx="20">
                  <c:v>98.52</c:v>
                </c:pt>
                <c:pt idx="21">
                  <c:v>98.43</c:v>
                </c:pt>
                <c:pt idx="22">
                  <c:v>98.43</c:v>
                </c:pt>
                <c:pt idx="23">
                  <c:v>98.69</c:v>
                </c:pt>
                <c:pt idx="24">
                  <c:v>98.46</c:v>
                </c:pt>
                <c:pt idx="25">
                  <c:v>98.67</c:v>
                </c:pt>
                <c:pt idx="26">
                  <c:v>98.79</c:v>
                </c:pt>
                <c:pt idx="27">
                  <c:v>98.47</c:v>
                </c:pt>
                <c:pt idx="28">
                  <c:v>98.48</c:v>
                </c:pt>
                <c:pt idx="29">
                  <c:v>98.34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1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183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9"/>
          <c:min val="96"/>
        </c:scaling>
        <c:delete val="0"/>
        <c:axPos val="l"/>
        <c:majorGridlines>
          <c:spPr>
            <a:ln w="12700" cap="flat">
              <a:solidFill>
                <a:srgbClr val="DC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DigitCNN</c:v>
                </c:pt>
              </c:strCache>
            </c:strRef>
          </c:tx>
          <c:spPr>
            <a:solidFill>
              <a:srgbClr val="B8C9D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718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conv1</c:v>
                  </c:pt>
                  <c:pt idx="1">
                    <c:v>conv2</c:v>
                  </c:pt>
                  <c:pt idx="2">
                    <c:v>conv3</c:v>
                  </c:pt>
                  <c:pt idx="3">
                    <c:v>lớp FC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0.08</c:v>
                </c:pt>
                <c:pt idx="1">
                  <c:v>2.24</c:v>
                </c:pt>
                <c:pt idx="2">
                  <c:v>0</c:v>
                </c:pt>
                <c:pt idx="3">
                  <c:v>97.68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SmallCNN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718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conv1</c:v>
                  </c:pt>
                  <c:pt idx="1">
                    <c:v>conv2</c:v>
                  </c:pt>
                  <c:pt idx="2">
                    <c:v>conv3</c:v>
                  </c:pt>
                  <c:pt idx="3">
                    <c:v>lớp FC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1.59</c:v>
                </c:pt>
                <c:pt idx="1">
                  <c:v>23.28</c:v>
                </c:pt>
                <c:pt idx="2">
                  <c:v>46.23</c:v>
                </c:pt>
                <c:pt idx="3">
                  <c:v>28.9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5F718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5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F718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CNN nhận diện chữ số viết tay MNIST. Ba con số trên bìa là kết quả cuối của kiến trúc đã chốt: SmallCNN 5.018 tham số, 19,6 KB, test accuracy 98,82%.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bước chuẩn của một dự án DL. Slide sau đi vào từng bước với code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Tỷ lệ 50k/10k/10k xấp xỉ 70/15/15. Test set chỉ chạm một lần ở cuối.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Chuỗi shape là thứ phải nắm trước khi viết golden model C. 144 = 16 x 3 x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Reshape và Gemm là tên op của ONNX, không phải thứ khác với flatten và linear. Cả hai đều miễn phí khi inference — chỉ là đọc lại cùng vùng nhớ theo chỉ số khác.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Softmax cũng bỏ được khi inference vì argmax(softmax(z)) = argmax(z).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lệnh zero_grad - backward - step là khung cố định của mọi vòng train PyTorch.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hai việc Thầy yêu cầu ở feedback tuần 2, đã làm xong trong tuần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Phát hiện này sinh ra từ việc cho mỗi model một số epoch riêng thay vì dùng chung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Params của Conv2d không phụ thuộc kích thước ảnh, còn Linear thì có — đó là lý do fc1 nổ.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số đáng báo cáo là tỷ lệ đánh đổi, không phải accuracy tuyệt đối.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 quan trọng: cặp chữ số hay nhầm là do hình dạng vốn giống nhau, không phải do model yếu. Model nhỏ không 'ngu đi' theo kiểu khác, nó chỉ sai thêm ở đúng những chỗ vốn đã khó.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bằng câu hỏi quan trọng nhất cần Thầy xác nhận.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1/3  ·  MẢNG AI  ·  TUẦN 1–3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chữ số viết tay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baseline CNN trên MNIST — từng bước và ý nghĩa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98,82%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5.018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 KB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model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Trần Anh Khoa  ·  CNKT Máy tính  ·  PyTorch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của một dự án Deep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5196" y="196596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216152" y="21854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16152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2356" y="2788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2356" y="344728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70.000 ảnh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xám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82596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38628" y="196596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EA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3529584" y="21854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9584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75788" y="2788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75788" y="344728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conv → pool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fully-connected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96028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52060" y="196596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EA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843016" y="21854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43016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89220" y="2788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luyện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89220" y="344728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backward → update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09460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65492" y="196596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EAF1F5"/>
          </a:solidFill>
          <a:ln/>
        </p:spPr>
      </p:sp>
      <p:sp>
        <p:nvSpPr>
          <p:cNvPr id="23" name="Shape 21"/>
          <p:cNvSpPr/>
          <p:nvPr/>
        </p:nvSpPr>
        <p:spPr>
          <a:xfrm>
            <a:off x="8156448" y="21854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56448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02652" y="2788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02652" y="344728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mỗi epoch,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lần cuối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422892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78924" y="196596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EA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69880" y="21854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469880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16084" y="2788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16084" y="344728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vẽ tay,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tham số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dừng ở ô 5. Từ đây model đi tiếp sang golden model C → RTL/FPGA → hệ nhúng (project 2/3).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dữ liệu</a:t>
            </a:r>
            <a:endParaRPr lang="en-US" sz="3200" dirty="0"/>
          </a:p>
        </p:txBody>
      </p:sp>
      <p:pic>
        <p:nvPicPr>
          <p:cNvPr id="4" name="Image 0" descr="mnist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6235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6" name="Shape 3"/>
          <p:cNvSpPr/>
          <p:nvPr/>
        </p:nvSpPr>
        <p:spPr>
          <a:xfrm>
            <a:off x="6748272" y="20116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74827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0482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tập, ba vai trò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578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961120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trọng số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29809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9809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2980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epoch, chọn kiến trúc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3383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961120" y="3383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ĐÚNG 1 LẦN, để báo cáo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1148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ToTensor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ảnh 0–255 thành tensor 0–1.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trừ mean 0,1307 và chia std 0,3081 của chính MNIST. Đưa dữ liệu về quanh 0 nên mạng học nhanh và ổn định hơn.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batch_size = 64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64 ảnh mỗi bước, đánh đổi tốc độ và bộ nhớ.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phải có validation set: dùng test set để theo dõi trong lúc train là data leakage — con số cuối không còn phản ánh khả năng tổng quát hoá.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model — chuỗi shape đi qua mạng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" y="192024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9496" y="25786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1×28×28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50008" y="192024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41448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 + pool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41448" y="25786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8×14×14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 + pool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5786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16×7×7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53912" y="192024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45352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 + pool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25786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16×3×3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55864" y="192024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47304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5786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957816" y="192024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D9E9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49256" y="21579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49256" y="25786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đổi số kênh, giữ nguyên cao × rộng (nhờ padding = 1).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MaxPool2d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giữ nguyên số kênh, chia đôi cao × rộng.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phép này đi theo hai chiều khác nhau nên không giẫm chân nhau.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56616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0F2A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3675888"/>
            <a:ext cx="470001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H_out = floor(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(H_in + 2*padding - kernel) / stride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+ 1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7 -&gt; floor((7-2)/2)+1 = 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Chỗ 7 → 3: hàng cuối và cột cuối bị floor cắt bỏ hoàn toàn. Viết ceil trong C là shape lệch ngay từ đây.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kiến trúc thật — xuất ONNX, xem bằng Netron</a:t>
            </a:r>
            <a:endParaRPr lang="en-US" sz="3200" dirty="0"/>
          </a:p>
        </p:txBody>
      </p:sp>
      <p:pic>
        <p:nvPicPr>
          <p:cNvPr id="4" name="Image 0" descr="netron_3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7863840" cy="3136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78308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1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51392" y="1892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Reshape, không phải Flatten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851392" y="21671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viết x.flatten(1). Exporter mới phân rã nó về phép reshape tổng quát. Ô shape ⟨2⟩ là shape đích [batch, 144].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686800" y="2953512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1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851392" y="3063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Gemm, không phải Linear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851392" y="333756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 = General Matrix Multiply, tên ONNX của lớp fully-connected. B ⟨10×144⟩ là weight, C ⟨10⟩ là bias — đúng 1.450 tham số.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686800" y="4123944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1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851392" y="42336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Dropout, không có Softmax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851392" y="450799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chỉ tồn tại lúc train. Sơ đồ này chính là model sẽ đưa xuống phần cứng.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074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đọc từ chính file small_cnn.onnx của model đã chốt — không phải hình minh hoạ vẽ tay.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loss và optimizer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9456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214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52374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mạng sai bao nhiêu khi phân loại 1 trong 10 lớp. Bên trong là log-softmax + NLL. Không dùng MSE vì MSE coi nhãn như số thực, còn đây là bài toán phân loại.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EA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8862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8130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= 0.001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421538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điều chỉnh tốc độ học cho từng tham số. Hội tụ nhanh hơn SGD ở giai đoạn đầu, gần như không phải chỉnh tay.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1920240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0F2A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91272" y="2029968"/>
            <a:ext cx="34655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=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nn.CrossEntropyLoss()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optim.Adam(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model.parameters(),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lr=0.001)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36118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D9E9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09560" y="37673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tồn tại lúc train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4114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và optimizer không bao giờ xuống phần cứng. Khi viết golden model C chỉ còn phần inference.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huấn luyện — 4 dòng lặp đi lặp lại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4632" y="19659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22037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7063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zero_grad()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72968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gradient của bước trước. Quên là gradient cộng dồn, mạng học sai.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46704" y="19659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2037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77063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model(x)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172968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đẩy batch ảnh qua mạng, ra 10 điểm số (logits).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19659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28232" y="22037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28232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77063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172968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 tính gradient của loss theo từng trọng số.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0848" y="19659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A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0304" y="22037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77063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172968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trọng số theo gradient vừa tính.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epoch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mạng nhìn qua toàn bộ 50.000 ảnh train một lần. Bốn bước trên lặp lại </a:t>
            </a:r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 lần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mỗi epoch (50.000 ÷ batch 64).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model.train() bật Dropout, model.eval() tắt — quên chuyển là kết quả đánh giá sai.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đúng cách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DCD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sai — làm ở tuần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test set để đo sau mỗi epoch, rồi lấy luôn con số đó làm kết quả.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Đã nhìn test set nhiều lần để ra quyết định. Con số cuối mất ý nghĩa.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DCECD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đúng — sửa ở tuần 3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8716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trên validation set mỗi epoch, lưu checkpoint theo val accuracy cao nhất.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 set chỉ chạm 1 lần ở cuối, sau khi mọi quyết định đã chốt.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EAF1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lỗi kèm theo đã sửa luôn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4515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Trước: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file .pth luôn giữ trọng số của epoch cuối — mà epoch 8 (99,13%) lại kém epoch 7 (99,21%).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Sau: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mỗi epoch so val accuracy, chỉ ghi đè file khi phá kỷ lục. Nạp lại bản tốt nhất trước khi test.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nhỏ cần nhiều epoch hơn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223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8288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AF1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1965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epoch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423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98,42% — đường vẫn đang đi lên, model bị cắt ngang giữa chừng.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92440" y="35204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D9E9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75320" y="3657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epoch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4114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98,79% — tăng 0,37% mà không đổi một dòng kiến trúc nào. Ba epoch sau không cải thiện → đã hội tụ.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ít hơn 41 lần tham số thì học chậm hơn. Dùng chung một con số epoch cho hai kiến trúc là so sánh không công bằng.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nằm ở đâu — nút thắt và cách gỡ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029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tham số theo lớp (% tổng của từng model)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18120" y="182880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EAF1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0100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DigitCNN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3317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 một mình chiếm 97,06% — toàn bộ vấn đề nằm ở đúng một dòng code.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347472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D9E9F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01000" y="3611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SmallCNN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977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nặng nhất là conv3, chỉ 46,23%. Trải đều nên dễ chia bộ nhớ khi đưa xuống FPGA.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đòn bẩy nhân với nhau: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bớt channel (32→16) × ép spatial trước Flatten (7×7=49 → 3×3=9) × bỏ lớp FC ẩn  →  lớp FC từ 200.832 xuống 1.450 tham số.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 giữa kích thước và độ chính xác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DigitCNN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SmallCNN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2276856"/>
            <a:ext cx="6208776" cy="438912"/>
          </a:xfrm>
          <a:prstGeom prst="rect">
            <a:avLst/>
          </a:prstGeom>
          <a:solidFill>
            <a:srgbClr val="F3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331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206.922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331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5.018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072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float32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807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808,3 KB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807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 KB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" y="3227832"/>
            <a:ext cx="6208776" cy="438912"/>
          </a:xfrm>
          <a:prstGeom prst="rect">
            <a:avLst/>
          </a:prstGeom>
          <a:solidFill>
            <a:srgbClr val="F3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2826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int8 (dự kiến)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32826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202,1 KB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2826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KB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581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758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98,96%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758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98,79%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" y="4178808"/>
            <a:ext cx="6208776" cy="438912"/>
          </a:xfrm>
          <a:prstGeom prst="rect">
            <a:avLst/>
          </a:prstGeom>
          <a:solidFill>
            <a:srgbClr val="F3F7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2336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233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99,05%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4233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98,82%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709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tốt nhất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4709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4709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52360" y="187452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0F2A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80960" y="20116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41,2×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27249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tham số hơn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30358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lấy 0,23% accuracy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52360" y="365760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D9E9F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38404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99,8% hiệu năng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2,4% bộ nhớ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45720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0,23% ứng với 23 ảnh trong 10.000.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394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(98,82%) cao hơn val accuracy (98,79%): val là giá trị lớn nhất trong 30 lần đo nên hơi lạc quan, còn test chỉ chạm 1 lần và không dùng để chọn gì — kết quả không phải ăn may.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41 lần tham số thì model nhầm khác đi thế nào</a:t>
            </a:r>
            <a:endParaRPr lang="en-US" sz="3200" dirty="0"/>
          </a:p>
        </p:txBody>
      </p:sp>
      <p:pic>
        <p:nvPicPr>
          <p:cNvPr id="4" name="Image 0" descr="confusion_matrix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694176" cy="3200400"/>
          </a:xfrm>
          <a:prstGeom prst="rect">
            <a:avLst/>
          </a:prstGeom>
        </p:spPr>
      </p:pic>
      <p:pic>
        <p:nvPicPr>
          <p:cNvPr id="5" name="Image 1" descr="per_class_accura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65960"/>
            <a:ext cx="6858000" cy="3154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5257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 ảnh sai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56869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→ 118 trên 10.000 ảnh. Đúng bằng 0,23% chênh lệch accuracy.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507992" y="5257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kém đều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507992" y="556869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2 và 4 lại TỐT HƠN model cũ. Số 6 và 9 mới là chỗ kém đi.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375904" y="5257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tập hình dạng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375904" y="556869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model nhầm trong {4,9}, {2,7}, {3,5} — chỉ đảo chiều.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đã xong — tiếp theo là gì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xong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— test set chỉ chạm 1 lần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lưu theo val accuracy cao nhất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kiến trúc SmallCNN: 5.018 tham số, 98,82%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và viết mã giả cho Conv2d, MaxPool2d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6060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mã giả cho các operator còn lại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model inference (bỏ Dropout, bỏ Softmax)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tham số ra định dạng C đọc được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C — đích của project 1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int8: 19,6 KB → 4,9 KB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cần Thầy chốt: golden model C thuộc project 1 (mảng AI) hay là đầu việc của project IC?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Baseline CNN - Nhan dien chu so viet tay</dc:title>
  <dc:subject>PptxGenJS Presentation</dc:subject>
  <dc:creator>Nguyen Tran Anh Khoa</dc:creator>
  <cp:lastModifiedBy>Nguyen Tran Anh Khoa</cp:lastModifiedBy>
  <cp:revision>1</cp:revision>
  <dcterms:created xsi:type="dcterms:W3CDTF">2026-09-21T12:41:43Z</dcterms:created>
  <dcterms:modified xsi:type="dcterms:W3CDTF">2026-09-21T12:41:43Z</dcterms:modified>
</cp:coreProperties>
</file>